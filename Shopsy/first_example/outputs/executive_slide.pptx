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4213D"/>
                </a:solidFill>
                <a:latin typeface="Calibri"/>
              </a:rPr>
              <a:t>Booked vs delivered GMV by region (Rs lakh)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Booked GMV (Rs lakh)</c:v>
                </c:pt>
              </c:strCache>
            </c:strRef>
          </c:tx>
          <c:spPr>
            <a:solidFill>
              <a:srgbClr val="14213D"/>
            </a:solidFill>
          </c:spPr>
          <c:cat>
            <c:strRef>
              <c:f>Sheet1!$A$2:$A$5</c:f>
              <c:strCache>
                <c:ptCount val="4"/>
                <c:pt idx="0">
                  <c:v>North (12 sellers)</c:v>
                </c:pt>
                <c:pt idx="1">
                  <c:v>West (6 sellers)</c:v>
                </c:pt>
                <c:pt idx="2">
                  <c:v>South (6 sellers)</c:v>
                </c:pt>
                <c:pt idx="3">
                  <c:v>East (6 sellers)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22.45</c:v>
                </c:pt>
                <c:pt idx="1">
                  <c:v>11.7</c:v>
                </c:pt>
                <c:pt idx="2">
                  <c:v>11.73</c:v>
                </c:pt>
                <c:pt idx="3">
                  <c:v>10.48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Delivered GMV (Rs lakh)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North (12 sellers)</c:v>
                </c:pt>
                <c:pt idx="1">
                  <c:v>West (6 sellers)</c:v>
                </c:pt>
                <c:pt idx="2">
                  <c:v>South (6 sellers)</c:v>
                </c:pt>
                <c:pt idx="3">
                  <c:v>East (6 sellers)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16.49</c:v>
                </c:pt>
                <c:pt idx="1">
                  <c:v>8.58</c:v>
                </c:pt>
                <c:pt idx="2">
                  <c:v>8.45</c:v>
                </c:pt>
                <c:pt idx="3">
                  <c:v>7.87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Booked GMV Rs 56.36 lakh; delivered GMV Rs 41.38 lakh (73.4% of booked). North leads on delivered GMV at Rs 16.49 lakh (39.8% share); East is lowest at Rs 7.87 lakh. Leakage: returned Rs 5.17 lakh (9.2% of booked) and cancelled Rs 3.73 lakh (6.2% of gross). 6 of 30 sellers flagged for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Calibri"/>
              </a:rPr>
              <a:t>Delivered GMV is 73% of booked; North drives 40% of deliveries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Regional sales performance, 2026-10-01 to 2026-10-28. Region = seller zone.</a:t>
            </a:r>
          </a:p>
        </p:txBody>
      </p:sp>
      <p:sp>
        <p:nvSpPr>
          <p:cNvPr id="4" name="Tile Booked GMV"/>
          <p:cNvSpPr/>
          <p:nvPr/>
        </p:nvSpPr>
        <p:spPr>
          <a:xfrm>
            <a:off x="457200" y="1508760"/>
            <a:ext cx="2651760" cy="118872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le text Booked GMV"/>
          <p:cNvSpPr txBox="1"/>
          <p:nvPr/>
        </p:nvSpPr>
        <p:spPr>
          <a:xfrm>
            <a:off x="640080" y="16002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55F6D"/>
                </a:solidFill>
                <a:latin typeface="Calibri"/>
              </a:rPr>
              <a:t>Booked GMV</a:t>
            </a:r>
          </a:p>
          <a:p>
            <a:pPr>
              <a:spcAft>
                <a:spcPts val="400"/>
              </a:spcAft>
            </a:pPr>
            <a:r>
              <a:rPr sz="2400" b="1">
                <a:solidFill>
                  <a:srgbClr val="14213D"/>
                </a:solidFill>
                <a:latin typeface="Calibri"/>
              </a:rPr>
              <a:t>Rs 56.36 lakh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F6D"/>
                </a:solidFill>
                <a:latin typeface="Calibri"/>
              </a:rPr>
              <a:t>13,574 booked orders</a:t>
            </a:r>
          </a:p>
        </p:txBody>
      </p:sp>
      <p:sp>
        <p:nvSpPr>
          <p:cNvPr id="6" name="Tile Delivered GMV"/>
          <p:cNvSpPr/>
          <p:nvPr/>
        </p:nvSpPr>
        <p:spPr>
          <a:xfrm>
            <a:off x="3291840" y="1508760"/>
            <a:ext cx="2651760" cy="118872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le text Delivered GMV"/>
          <p:cNvSpPr txBox="1"/>
          <p:nvPr/>
        </p:nvSpPr>
        <p:spPr>
          <a:xfrm>
            <a:off x="3474720" y="16002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55F6D"/>
                </a:solidFill>
                <a:latin typeface="Calibri"/>
              </a:rPr>
              <a:t>Delivered GMV</a:t>
            </a:r>
          </a:p>
          <a:p>
            <a:pPr>
              <a:spcAft>
                <a:spcPts val="400"/>
              </a:spcAft>
            </a:pPr>
            <a:r>
              <a:rPr sz="2400" b="1">
                <a:solidFill>
                  <a:srgbClr val="0F766E"/>
                </a:solidFill>
                <a:latin typeface="Calibri"/>
              </a:rPr>
              <a:t>Rs 41.38 lakh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F6D"/>
                </a:solidFill>
                <a:latin typeface="Calibri"/>
              </a:rPr>
              <a:t>73.4% of booked</a:t>
            </a:r>
          </a:p>
        </p:txBody>
      </p:sp>
      <p:sp>
        <p:nvSpPr>
          <p:cNvPr id="8" name="Tile Returned GMV"/>
          <p:cNvSpPr/>
          <p:nvPr/>
        </p:nvSpPr>
        <p:spPr>
          <a:xfrm>
            <a:off x="6126480" y="1508760"/>
            <a:ext cx="2651760" cy="118872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le text Returned GMV"/>
          <p:cNvSpPr txBox="1"/>
          <p:nvPr/>
        </p:nvSpPr>
        <p:spPr>
          <a:xfrm>
            <a:off x="6309360" y="16002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55F6D"/>
                </a:solidFill>
                <a:latin typeface="Calibri"/>
              </a:rPr>
              <a:t>Returned GMV</a:t>
            </a:r>
          </a:p>
          <a:p>
            <a:pPr>
              <a:spcAft>
                <a:spcPts val="400"/>
              </a:spcAft>
            </a:pPr>
            <a:r>
              <a:rPr sz="2400" b="1">
                <a:solidFill>
                  <a:srgbClr val="C2410C"/>
                </a:solidFill>
                <a:latin typeface="Calibri"/>
              </a:rPr>
              <a:t>Rs 5.17 lakh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F6D"/>
                </a:solidFill>
                <a:latin typeface="Calibri"/>
              </a:rPr>
              <a:t>9.2% of booked</a:t>
            </a:r>
          </a:p>
        </p:txBody>
      </p:sp>
      <p:sp>
        <p:nvSpPr>
          <p:cNvPr id="10" name="Tile Cancelled GMV"/>
          <p:cNvSpPr/>
          <p:nvPr/>
        </p:nvSpPr>
        <p:spPr>
          <a:xfrm>
            <a:off x="8961120" y="1508760"/>
            <a:ext cx="2651760" cy="118872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le text Cancelled GMV"/>
          <p:cNvSpPr txBox="1"/>
          <p:nvPr/>
        </p:nvSpPr>
        <p:spPr>
          <a:xfrm>
            <a:off x="9144000" y="160020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555F6D"/>
                </a:solidFill>
                <a:latin typeface="Calibri"/>
              </a:rPr>
              <a:t>Cancelled GMV</a:t>
            </a:r>
          </a:p>
          <a:p>
            <a:pPr>
              <a:spcAft>
                <a:spcPts val="400"/>
              </a:spcAft>
            </a:pPr>
            <a:r>
              <a:rPr sz="2400" b="1">
                <a:solidFill>
                  <a:srgbClr val="C2410C"/>
                </a:solidFill>
                <a:latin typeface="Calibri"/>
              </a:rPr>
              <a:t>Rs 3.73 lakh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F6D"/>
                </a:solidFill>
                <a:latin typeface="Calibri"/>
              </a:rPr>
              <a:t>6.2% of gross</a:t>
            </a:r>
          </a:p>
        </p:txBody>
      </p:sp>
      <p:graphicFrame>
        <p:nvGraphicFramePr>
          <p:cNvPr id="12" name="Regional chart"/>
          <p:cNvGraphicFramePr>
            <a:graphicFrameLocks noGrp="1"/>
          </p:cNvGraphicFramePr>
          <p:nvPr/>
        </p:nvGraphicFramePr>
        <p:xfrm>
          <a:off x="457200" y="2971800"/>
          <a:ext cx="67665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Exceptions"/>
          <p:cNvSpPr txBox="1"/>
          <p:nvPr/>
        </p:nvSpPr>
        <p:spPr>
          <a:xfrm>
            <a:off x="7589520" y="3063240"/>
            <a:ext cx="4114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4213D"/>
                </a:solidFill>
                <a:latin typeface="Calibri"/>
              </a:rPr>
              <a:t>Sellers to act 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Store 02 (North, Manager 2): high cancels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Store 26 (North, Manager 1): high cancels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Store 01 (North, Manager 1): high returns, high cancels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55F6D"/>
                </a:solidFill>
                <a:latin typeface="Calibri"/>
              </a:rPr>
              <a:t>Store 13 (South, Manager 3): high returns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F6D"/>
                </a:solidFill>
                <a:latin typeface="Calibri"/>
              </a:rPr>
              <a:t>+2 more flagged. Full list in the dashboard.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55F6D"/>
                </a:solidFill>
                <a:latin typeface="Calibri"/>
              </a:rPr>
              <a:t>Booked = Delivered + Ready to ship + Returned. Booked + Cancelled = Gross Rs 60.09 lakh. 13 of 13 data checks passed. Flag rule: return or cancel rate above 1.5x average, or delivered rate 10+ pts below zone.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regional sales slide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